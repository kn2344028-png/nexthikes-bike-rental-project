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07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1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411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387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25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30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76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31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36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218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398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0192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939655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113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053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00816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718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09180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338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1926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208399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4364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428320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68729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185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76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170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99682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559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559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67426-ADBD-10C3-4615-340DFCEF15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86" t="12500" b="12500"/>
          <a:stretch>
            <a:fillRect/>
          </a:stretch>
        </p:blipFill>
        <p:spPr>
          <a:xfrm>
            <a:off x="0" y="117987"/>
            <a:ext cx="12192000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B6CDE8-5F44-B7E8-6447-650ED5A4EFD3}"/>
              </a:ext>
            </a:extLst>
          </p:cNvPr>
          <p:cNvCxnSpPr/>
          <p:nvPr/>
        </p:nvCxnSpPr>
        <p:spPr>
          <a:xfrm>
            <a:off x="9960078" y="1386348"/>
            <a:ext cx="19664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9E545C2-0E57-4F65-6DBF-B6B5C3C35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383" y="289068"/>
            <a:ext cx="1767840" cy="10972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E2BE7A-77A7-1BA5-2CF4-161756C7CE37}"/>
              </a:ext>
            </a:extLst>
          </p:cNvPr>
          <p:cNvSpPr txBox="1"/>
          <p:nvPr/>
        </p:nvSpPr>
        <p:spPr>
          <a:xfrm>
            <a:off x="282184" y="223000"/>
            <a:ext cx="902896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BIKE SHARING </a:t>
            </a:r>
          </a:p>
          <a:p>
            <a:r>
              <a:rPr lang="en-US" sz="32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 DEMAND ANALYSIS &amp; </a:t>
            </a:r>
          </a:p>
          <a:p>
            <a:r>
              <a:rPr lang="en-US" sz="32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FLEET OPTIMIZATION</a:t>
            </a:r>
          </a:p>
          <a:p>
            <a:endParaRPr lang="en-US" sz="3200" dirty="0"/>
          </a:p>
          <a:p>
            <a:r>
              <a:rPr lang="en-US" sz="3200" dirty="0"/>
              <a:t>                            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NEXTHIKES IT SOLUTIONS</a:t>
            </a:r>
            <a:endParaRPr lang="en-US" sz="3200" dirty="0"/>
          </a:p>
          <a:p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REPRESENT BY</a:t>
            </a:r>
            <a:r>
              <a:rPr lang="en-US" sz="3200" dirty="0">
                <a:solidFill>
                  <a:schemeClr val="accent1"/>
                </a:solidFill>
              </a:rPr>
              <a:t>: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002060"/>
                </a:solidFill>
              </a:rPr>
              <a:t>Panchanana Nayak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0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438912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02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682495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RECORDS ANALYSED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2057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7A7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55448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2424" y="1682495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RENTAL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1947672"/>
            <a:ext cx="2057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7A7"/>
                </a:solidFill>
                <a:latin typeface="Aptos"/>
              </a:defRPr>
            </a:pPr>
            <a:r>
              <a:t>58,304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55448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07024" y="1682495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AVG. RENTALS /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1947672"/>
            <a:ext cx="2057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7A7"/>
                </a:solidFill>
                <a:latin typeface="Aptos"/>
              </a:defRPr>
            </a:pPr>
            <a:r>
              <a:t>58.3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55448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21624" y="1682495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REGISTERED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1947672"/>
            <a:ext cx="2057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7A7"/>
                </a:solidFill>
                <a:latin typeface="Aptos"/>
              </a:defRPr>
            </a:pPr>
            <a:r>
              <a:t>91.6%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7180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Registered customers generate the large majority of rentals in the analysed records.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Demand changes sharply by hour; early morning is typically quiet and commute periods are stronger.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Clearer weather is associated with higher average rentals than rain or snow conditions.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Use these findings to plan fleet availability, maintenance windows and customer campaigns.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411480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Project scope &amp; business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Goal: understand when bikes are rented, who rents them, and how weather relates to demand.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Workbook includes raw input tabs, a cleaned analytical table, and summary tabs for daily, hourly, weather, user type, season, month and correlation.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Core questions: When is demand highest? Which user group dominates? Does weather matter? Which factors deserve operational attention?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Outputs: descriptive statistics, visual comparisons, data-quality notes and actionable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7A7"/>
                </a:solidFill>
                <a:latin typeface="Aptos"/>
              </a:defRPr>
            </a:pPr>
            <a:r>
              <a:t>ANALYSIS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148840"/>
            <a:ext cx="3383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22219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3041"/>
                </a:solidFill>
                <a:latin typeface="Aptos"/>
              </a:defRPr>
            </a:pPr>
            <a:r>
              <a:t>Raw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5786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7A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383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29077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3041"/>
                </a:solidFill>
                <a:latin typeface="Aptos"/>
              </a:defRPr>
            </a:pPr>
            <a:r>
              <a:t>Join &amp;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32644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7A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520440"/>
            <a:ext cx="3383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35935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3041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9502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7A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206240"/>
            <a:ext cx="3383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4279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3041"/>
                </a:solidFill>
                <a:latin typeface="Aptos"/>
              </a:defRPr>
            </a:pPr>
            <a:r>
              <a:t>Summaries &amp; charts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63600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7A7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892040"/>
            <a:ext cx="3383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49651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3041"/>
                </a:solidFill>
                <a:latin typeface="Aptos"/>
              </a:defRPr>
            </a:pPr>
            <a:r>
              <a:t>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363794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Data preparation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C7D"/>
                </a:solidFill>
                <a:latin typeface="Aptos"/>
              </a:defRPr>
            </a:pPr>
            <a:r>
              <a:t>What was prepared in the Excel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Cleaned table contains 1,000 rows and 28 fields (including time, weather, users and derived measures).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Source README states datasets were joined on the shared instant ID and a further dataset appended.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A helper Unnamed: 0 column was removed; duplicate IDs were checked; missing feels-like temperature values were interpolated.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Standardized labels and added readable features: month/season names, weekday, day type, hour group, temperature units and user shares.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Important scope note: the cleaned table covers 1 Jan–14 Feb 2011 in the supplied workbook, so conclusions describe this subset—not a full-year trend.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365760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Dataset snapshot &amp; 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C7D"/>
                </a:solidFill>
                <a:latin typeface="Aptos"/>
              </a:defRPr>
            </a:pPr>
            <a:r>
              <a:t>Baseline measures from the cleaned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05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72821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TOTAL RENTALS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9339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7A7"/>
                </a:solidFill>
                <a:latin typeface="Aptos"/>
              </a:defRPr>
            </a:pPr>
            <a:r>
              <a:t>58,304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002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9584" y="172821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REGISTERED RENTALS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199339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7A7"/>
                </a:solidFill>
                <a:latin typeface="Aptos"/>
              </a:defRPr>
            </a:pPr>
            <a:r>
              <a:t>53,383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6002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81344" y="172821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CASUAL RENTALS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199339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7A7"/>
                </a:solidFill>
                <a:latin typeface="Aptos"/>
              </a:defRPr>
            </a:pPr>
            <a:r>
              <a:t>4,921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600200"/>
            <a:ext cx="2468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33104" y="172821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F6C7D"/>
                </a:solidFill>
                <a:latin typeface="Aptos"/>
              </a:defRPr>
            </a:pPr>
            <a:r>
              <a:t>UNIQUE 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1993392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7A7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rPr dirty="0"/>
              <a:t>•  Registered users account for 91.6% of recorded rentals; casual users account for 8.4%.</a:t>
            </a:r>
          </a:p>
          <a:p>
            <a:pPr>
              <a:spcAft>
                <a:spcPts val="12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rPr dirty="0"/>
              <a:t>•  Average demand is 58.3 rentals per hourly record.</a:t>
            </a:r>
          </a:p>
          <a:p>
            <a:pPr>
              <a:spcAft>
                <a:spcPts val="12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rPr dirty="0"/>
              <a:t>•  The total is the sum of the cleaned records; it should not be interpreted as the full business total unless the source scope is confirmed.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59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Hourly demand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C7D"/>
                </a:solidFill>
                <a:latin typeface="Aptos"/>
              </a:defRPr>
            </a:pPr>
            <a:r>
              <a:t>Average rentals by hour of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06 / 15</a:t>
            </a:r>
          </a:p>
        </p:txBody>
      </p:sp>
      <p:pic>
        <p:nvPicPr>
          <p:cNvPr id="7" name="Picture 6" descr="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508760"/>
            <a:ext cx="571500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002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Highest average hour in the cleaned subset: 17:00.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Lowest average hour in the cleaned subset: 04:00.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Demand is not uniform across the day—hour-based planning can improve bike availability.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Operational use: position bikes before high-demand windows and schedule routine maintenance during quieter periods.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363794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Customer mix: registered vs casual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C7D"/>
                </a:solidFill>
                <a:latin typeface="Aptos"/>
              </a:defRPr>
            </a:pPr>
            <a:r>
              <a:t>Rental volume by user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07 / 15</a:t>
            </a:r>
          </a:p>
        </p:txBody>
      </p:sp>
      <p:pic>
        <p:nvPicPr>
          <p:cNvPr id="7" name="Picture 6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785" y="1907458"/>
            <a:ext cx="5944911" cy="40361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459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Registered: 53,383 rentals (91.6%).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Casual: 4,921 rentals (8.4%).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Registered users form the core demand base in this subset.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Opportunity: use casual-user promotions and simple membership conversion offers, while protecting service quality for repeat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411480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Weather and rental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C7D"/>
                </a:solidFill>
                <a:latin typeface="Aptos"/>
              </a:defRPr>
            </a:pPr>
            <a:r>
              <a:t>Average rentals vary by observed weather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08 / 15</a:t>
            </a:r>
          </a:p>
        </p:txBody>
      </p:sp>
      <p:pic>
        <p:nvPicPr>
          <p:cNvPr id="7" name="Picture 6" descr="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5448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Highest average category in the cleaned data: Clear / Few clouds.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Lowest average category in the cleaned data: Light rain / Snow.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Rain/snow categories generally show lower average demand than clear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Use weather forecasts for short-term staffing and fleet positioning; treat weather as one influence, not proof of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295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Seasonal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C7D"/>
                </a:solidFill>
                <a:latin typeface="Aptos"/>
              </a:defRPr>
            </a:pPr>
            <a:r>
              <a:t>Interpret carefully: the supplied cleaned subset is limited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09 / 15</a:t>
            </a:r>
          </a:p>
        </p:txBody>
      </p:sp>
      <p:pic>
        <p:nvPicPr>
          <p:cNvPr id="7" name="Picture 6" descr="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30352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The workbook’s Season_Summary reports only Spring in the displayed cleaned subset.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A reliable four-season ranking cannot be inferred from a dataset covering only part of January and February.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Recommendation: rerun this comparison after including all months and validating the season mapping.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For a complete annual analysis, compare both total rentals and average rentals per hour/record.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393290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Monthly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10 / 15</a:t>
            </a:r>
          </a:p>
        </p:txBody>
      </p:sp>
      <p:pic>
        <p:nvPicPr>
          <p:cNvPr id="7" name="Picture 6" descr="month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00200"/>
            <a:ext cx="530352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7830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The provided cleaned data contains January and part of February 2011.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Compare month-level totals only when the months have comparable coverage; a partial month can look artificially low.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For a fair comparison, use average rentals per day or compare complete months only.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Use monthly reporting to support seasonal staffing, budget planning and campaign calendars once a full-year dataset is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34297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Daily demand variability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C7D"/>
                </a:solidFill>
                <a:latin typeface="Aptos"/>
              </a:defRPr>
            </a:pPr>
            <a:r>
              <a:t>Daily totals reveal spikes and quieter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11 / 15</a:t>
            </a:r>
          </a:p>
        </p:txBody>
      </p:sp>
      <p:pic>
        <p:nvPicPr>
          <p:cNvPr id="7" name="Picture 6" descr="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54480"/>
            <a:ext cx="55778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Highest daily total in the summary: 1,985 on 25 Jan 2011.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Lowest daily total in the summary: 151 on 14 Feb 2011.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Day-to-day changes can reflect weather, weekday/weekend mix and the number of records captured.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383458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Weather variables &amp;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F6C7D"/>
                </a:solidFill>
                <a:latin typeface="Aptos"/>
              </a:defRPr>
            </a:pPr>
            <a:r>
              <a:t>Linear association with total rentals in cleaned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12 / 15</a:t>
            </a:r>
          </a:p>
        </p:txBody>
      </p:sp>
      <p:pic>
        <p:nvPicPr>
          <p:cNvPr id="7" name="Picture 6" descr="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39496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43041"/>
                </a:solidFill>
                <a:latin typeface="Aptos"/>
              </a:defRPr>
            </a:pPr>
            <a:r>
              <a:t>•  Temperature correlation: 0.23.</a:t>
            </a:r>
          </a:p>
          <a:p>
            <a:pPr>
              <a:spcAft>
                <a:spcPts val="1200"/>
              </a:spcAft>
              <a:defRPr sz="1500">
                <a:solidFill>
                  <a:srgbClr val="243041"/>
                </a:solidFill>
                <a:latin typeface="Aptos"/>
              </a:defRPr>
            </a:pPr>
            <a:r>
              <a:t>•  Humidity correlation: -0.25.</a:t>
            </a:r>
          </a:p>
          <a:p>
            <a:pPr>
              <a:spcAft>
                <a:spcPts val="1200"/>
              </a:spcAft>
              <a:defRPr sz="1500">
                <a:solidFill>
                  <a:srgbClr val="243041"/>
                </a:solidFill>
                <a:latin typeface="Aptos"/>
              </a:defRPr>
            </a:pPr>
            <a:r>
              <a:t>•  Wind speed correlation: 0.10.</a:t>
            </a:r>
          </a:p>
          <a:p>
            <a:pPr>
              <a:spcAft>
                <a:spcPts val="1200"/>
              </a:spcAft>
              <a:defRPr sz="1500">
                <a:solidFill>
                  <a:srgbClr val="243041"/>
                </a:solidFill>
                <a:latin typeface="Aptos"/>
              </a:defRPr>
            </a:pPr>
            <a:r>
              <a:t>•  Correlation describes linear association only; it does not prove that weather caused a change in rentals.</a:t>
            </a:r>
          </a:p>
          <a:p>
            <a:pPr>
              <a:spcAft>
                <a:spcPts val="1200"/>
              </a:spcAft>
              <a:defRPr sz="1500">
                <a:solidFill>
                  <a:srgbClr val="243041"/>
                </a:solidFill>
                <a:latin typeface="Aptos"/>
              </a:defRPr>
            </a:pPr>
            <a:r>
              <a:t>•  A broader dataset and multivariable analysis would help separate weather effects from hour, date and user behaviour.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68826"/>
            <a:ext cx="36545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Working day vs weekend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13 / 15</a:t>
            </a:r>
          </a:p>
        </p:txBody>
      </p:sp>
      <p:pic>
        <p:nvPicPr>
          <p:cNvPr id="7" name="Picture 6" descr="day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00200"/>
            <a:ext cx="530352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Higher average demand in this subset: Working day.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Day type can help determine where to stage bikes and how many support staff are needed.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Interpret with care: the partial date range may over-represent some weekdays or weekends.</a:t>
            </a:r>
          </a:p>
          <a:p>
            <a:pPr>
              <a:spcAft>
                <a:spcPts val="1200"/>
              </a:spcAft>
              <a:defRPr sz="1600">
                <a:solidFill>
                  <a:srgbClr val="243041"/>
                </a:solidFill>
                <a:latin typeface="Aptos"/>
              </a:defRPr>
            </a:pPr>
            <a:r>
              <a:t>•  Next step: compare by weekday, hour and user type together rather than using a single overall average.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363794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11F36"/>
                </a:solidFill>
                <a:latin typeface="Aptos"/>
              </a:defRPr>
            </a:pPr>
            <a:r>
              <a:t>Business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25296"/>
            <a:ext cx="1051560" cy="5029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NEXTHIKES  •  BIKE RENTAL ANALYSIS                                      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Fleet planning: use hourly demand curves to position bikes before recurring peaks.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Maintenance: schedule routine work in the lowest-demand hours, keeping emergency capacity available.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Customer growth: test casual-to-registered conversion offers and measure conversion rate—not just clicks.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Weather response: use forecasts for short-term staffing and service alerts; avoid overreacting to one unusual day.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Reporting: track rentals per available bike, utilization, failed rental attempts, revenue and customer retention.</a:t>
            </a:r>
          </a:p>
          <a:p>
            <a:pPr>
              <a:spcAft>
                <a:spcPts val="1200"/>
              </a:spcAft>
              <a:defRPr sz="1700">
                <a:solidFill>
                  <a:srgbClr val="243041"/>
                </a:solidFill>
                <a:latin typeface="Aptos"/>
              </a:defRPr>
            </a:pPr>
            <a:r>
              <a:t>•  Validation: refresh analysis with complete-year data before making seasonal or long-term investment decisions.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521110" cy="6858000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CADDEB"/>
                </a:solidFill>
                <a:latin typeface="Aptos"/>
              </a:defRPr>
            </a:pPr>
            <a:r>
              <a:t>The data provides a useful first view of bike-rental behaviour—but coverage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t>•  Registered users dominate recorded rental volume.</a:t>
            </a:r>
          </a:p>
          <a:p>
            <a:pPr>
              <a:spcAft>
                <a:spcPts val="12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t>•  Demand varies by hour and weather category.</a:t>
            </a:r>
          </a:p>
          <a:p>
            <a:pPr>
              <a:spcAft>
                <a:spcPts val="12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t>•  Daily and user-type summaries can support operational planning.</a:t>
            </a:r>
          </a:p>
          <a:p>
            <a:pPr>
              <a:spcAft>
                <a:spcPts val="1200"/>
              </a:spcAft>
              <a:defRPr sz="1800">
                <a:solidFill>
                  <a:srgbClr val="243041"/>
                </a:solidFill>
                <a:latin typeface="Aptos"/>
              </a:defRPr>
            </a:pPr>
            <a:r>
              <a:t>•  Extend the dataset across a full year, validate all categories, and rerun the same dashboard for stronger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5DCDA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FFFF"/>
                </a:solidFill>
                <a:latin typeface="Aptos"/>
              </a:defRPr>
            </a:pPr>
            <a:r>
              <a:t>Source: supplied Nexthikes Excel workbook • Analysis limited to values present in the workbook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56</TotalTime>
  <Words>1259</Words>
  <Application>Microsoft Office PowerPoint</Application>
  <PresentationFormat>Widescreen</PresentationFormat>
  <Paragraphs>128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Panchanana Nayak</dc:creator>
  <cp:keywords/>
  <dc:description>generated using python-pptx</dc:description>
  <cp:lastModifiedBy>Panchanana Nayak</cp:lastModifiedBy>
  <cp:revision>2</cp:revision>
  <dcterms:created xsi:type="dcterms:W3CDTF">2013-01-27T09:14:16Z</dcterms:created>
  <dcterms:modified xsi:type="dcterms:W3CDTF">2026-10-10T17:51:50Z</dcterms:modified>
  <cp:category/>
</cp:coreProperties>
</file>